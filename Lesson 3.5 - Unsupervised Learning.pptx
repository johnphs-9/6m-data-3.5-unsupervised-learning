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16.xml"/>
  <Override ContentType="application/vnd.openxmlformats-officedocument.presentationml.slide+xml" PartName="/ppt/slides/slide29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9" r:id="rId9"/>
    <p:sldId id="260" r:id="rId10"/>
    <p:sldId id="261" r:id="rId11"/>
    <p:sldId id="262" r:id="rId12"/>
    <p:sldId id="264" r:id="rId14"/>
    <p:sldId id="267" r:id="rId17"/>
    <p:sldId id="268" r:id="rId18"/>
    <p:sldId id="269" r:id="rId19"/>
    <p:sldId id="271" r:id="rId21"/>
    <p:sldId id="272" r:id="rId22"/>
    <p:sldId id="280" r:id="rId30"/>
    <p:sldId id="282" r:id="rId32"/>
    <p:sldId id="284" r:id="rId34"/>
    <p:sldId id="286" r:id="rId36"/>
  </p:sldIdLst>
  <p:sldSz cy="6858000" cx="12192000"/>
  <p:notesSz cx="6858000" cy="9144000"/>
  <p:embeddedFontLst>
    <p:embeddedFont>
      <p:font typeface="Open Sans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OpenSansLight-boldItalic.fntdata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37" Type="http://schemas.openxmlformats.org/officeDocument/2006/relationships/font" Target="fonts/OpenSansLigh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OpenSansLight-italic.fntdata"/><Relationship Id="rId38" Type="http://schemas.openxmlformats.org/officeDocument/2006/relationships/font" Target="fonts/OpenSa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73e5c8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f173e5c8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" name="Google Shape;51;g3f173e5c8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 to Lesson 5 — Unsupervised Learning. Marcus's question from L04 — 'can we find clusters WITHOUT labels?' — is this week's brief. Three algorithms: PCA, K-Means, Isolation Forest. ~90 min slides + ~90 min hands-on.</a:t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 recap. Marcus signed off on the L04 gradient boosting model. Then asked a new kind of question: clusters without labels. That's the unsupervised toolkit.</a:t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Unsupervised learning isn't just clustering. Three distinct categories: dimensionality reduction, clustering, and anomaly detection. We cover one algorithm from each — together they're ~90% of unsupervised work in industry.</a:t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PCA finds new AXES — principal components — along which the data is most spread out. The first component captures the most variance; the second is the next-most variance perpendicular to PC1; and so on. If most variance lives in a few directions, you can drop the rest without losing much signal.</a:t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fitting PCA, READ the loadings — they tell you what each PC 'means' in original feature terms. Large absolute loadings on a feature mean that feature contributes strongly to that PC. Sign indicates direction.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K-Means partitions data into K groups by minimising within-cluster distance. Algorithm: assign each point to its nearest centroid, move centroids to cluster means, repeat. The result: K compact spherical clusters.</a:t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K-Means doesn't tell you K. You have to decide. Three standard approaches: elbow method (find the bend in inertia), silhouette score (peaks at a 'right' K), and business judgement (4 segments are easier to act on than 7).</a:t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clustering, the model gives you numbers (0, 1, 2, 3). The VALUE comes from profiling — for each cluster, compute the mean of every feature and compare to global. Then NAME them.</a:t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Anomaly detection finds INDIVIDUAL items that look unlike everything else. Clustering finds groups; anomaly detection finds outliers. Same data, different question. Isolation Forest is the industry standard.</a:t>
            </a:r>
            <a:endParaRPr/>
          </a:p>
        </p:txBody>
      </p:sp>
      <p:sp>
        <p:nvSpPr>
          <p:cNvPr id="364" name="Google Shape;36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Isolation Forest builds many random trees that recursively split the data. Normal points need MANY splits to be isolated; anomalies are isolated in FEW splits. The output: an anomaly score per point.</a:t>
            </a:r>
            <a:endParaRPr/>
          </a:p>
        </p:txBody>
      </p:sp>
      <p:sp>
        <p:nvSpPr>
          <p:cNvPr id="384" name="Google Shape;38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big lessons from this week.</a:t>
            </a:r>
            <a:endParaRPr/>
          </a:p>
        </p:txBody>
      </p:sp>
      <p:sp>
        <p:nvSpPr>
          <p:cNvPr id="602" name="Google Shape;60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parts to the assignment. Part A: segment 8,000 new e-commerce customers (StyleHub). Part B: flag anomalous credit-card transactions for fraud review. Same toolkit, different domains.</a:t>
            </a:r>
            <a:endParaRPr/>
          </a:p>
        </p:txBody>
      </p:sp>
      <p:sp>
        <p:nvSpPr>
          <p:cNvPr id="653" name="Google Shape;65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Marcus's new question — 'can you forecast next quarter's revenue?' — is the engine of L06. Time series forecasting. Different toolkit entirely: ETS, ARIMA, and modern ML-based forecasting.</a:t>
            </a:r>
            <a:endParaRPr/>
          </a:p>
        </p:txBody>
      </p:sp>
      <p:sp>
        <p:nvSpPr>
          <p:cNvPr id="701" name="Google Shape;70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Closing slide. L06 — time series forecasting — next.</a:t>
            </a:r>
            <a:endParaRPr/>
          </a:p>
        </p:txBody>
      </p:sp>
      <p:sp>
        <p:nvSpPr>
          <p:cNvPr id="741" name="Google Shape;74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900167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2067" y="197167"/>
            <a:ext cx="110799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02467" y="1317233"/>
            <a:ext cx="110799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900167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/3 Conten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900167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69367" y="458767"/>
            <a:ext cx="3886500" cy="121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72667" y="1897800"/>
            <a:ext cx="3982800" cy="44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b="1" sz="2900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461200" y="550100"/>
            <a:ext cx="7383300" cy="589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2067" y="197167"/>
            <a:ext cx="110799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900167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2/3 Conten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437367" y="197167"/>
            <a:ext cx="74025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0" y="0"/>
            <a:ext cx="40845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437433" y="1300800"/>
            <a:ext cx="7402500" cy="504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2/3 Content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8107600" y="0"/>
            <a:ext cx="40845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2067" y="1341900"/>
            <a:ext cx="7164000" cy="519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502067" y="197167"/>
            <a:ext cx="110799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 Content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02067" y="197167"/>
            <a:ext cx="11079900" cy="10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600" y="1167100"/>
            <a:ext cx="4803300" cy="47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653333" y="1167100"/>
            <a:ext cx="4929300" cy="49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6096000" y="1403100"/>
            <a:ext cx="0" cy="4521300"/>
          </a:xfrm>
          <a:prstGeom prst="straightConnector1">
            <a:avLst/>
          </a:prstGeom>
          <a:noFill/>
          <a:ln cap="flat" cmpd="sng" w="12700">
            <a:solidFill>
              <a:srgbClr val="C51A4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828800" y="3886200"/>
            <a:ext cx="85344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642963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1900" spcFirstLastPara="1" rIns="121900" wrap="square" tIns="609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750" y="606754"/>
            <a:ext cx="310500" cy="12192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02067" y="197167"/>
            <a:ext cx="110799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2467" y="1317233"/>
            <a:ext cx="110799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0050" lvl="2" marL="1371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i="0" sz="2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900167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333" y="6584067"/>
            <a:ext cx="356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alcony and trees  Description automatically generated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33271" t="0"/>
          <a:stretch/>
        </p:blipFill>
        <p:spPr>
          <a:xfrm>
            <a:off x="6172321" y="0"/>
            <a:ext cx="609600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320" y="5785658"/>
            <a:ext cx="60960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5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6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2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b="1" lang="en-US" sz="3200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b="1" sz="3200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b="33662" l="0" r="0" t="30759"/>
          <a:stretch/>
        </p:blipFill>
        <p:spPr>
          <a:xfrm>
            <a:off x="457200" y="0"/>
            <a:ext cx="5684874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700"/>
              <a:buFont typeface="Open Sans"/>
              <a:buNone/>
            </a:pPr>
            <a:r>
              <a:rPr b="1" lang="en-U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Module 3  ·  Machine Learning &amp; GenAI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L05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Unsupervised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Learning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i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Sarah's week of finding structure without labels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We Left Off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L04 → L05 — from prediction to discovery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end of L04: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"Now — what about the customers who DON'T churn but also don't log in for a year?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 we find natural CLUSTERS of customer behaviour without labels?"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548640" y="3629397"/>
            <a:ext cx="110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What's different this week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52727" y="4114800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📂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1201367" y="411480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Same dataset, no label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4127447" y="4114800"/>
            <a:ext cx="749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10,000 NorthStar customers — `churned` column dropped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52727" y="4617720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🎯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1201367" y="461772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No 'right answer'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127447" y="4617720"/>
            <a:ext cx="749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We're looking for structure, not predicting a target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652727" y="5120640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🛠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1201367" y="512064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new tools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127447" y="5120640"/>
            <a:ext cx="749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PCA (compress) · K-Means (group) · Isolation Forest (flag)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652727" y="5623560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🏁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1201367" y="562356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Friday deliverable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4127447" y="5623560"/>
            <a:ext cx="749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Segments + anomaly list for marketing and customer success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Categories of Unsupervised Work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One algorithm from each — covers most of industry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48640" y="1783080"/>
            <a:ext cx="91440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214884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📐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600200" y="178308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828800" y="192024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Dimensionality reduction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828800" y="2377440"/>
            <a:ext cx="6400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Squeeze high-dim data into fewer dimensions without losing the signal.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8686800" y="2380703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PCA</a:t>
            </a:r>
            <a:endParaRPr sz="2400"/>
          </a:p>
        </p:txBody>
      </p:sp>
      <p:sp>
        <p:nvSpPr>
          <p:cNvPr id="122" name="Google Shape;122;p17"/>
          <p:cNvSpPr/>
          <p:nvPr/>
        </p:nvSpPr>
        <p:spPr>
          <a:xfrm>
            <a:off x="548640" y="3246120"/>
            <a:ext cx="91440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48640" y="361188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🧩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1600200" y="324612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828800" y="338328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Clustering / segmentation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828800" y="3840480"/>
            <a:ext cx="6400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Group similar items together.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686800" y="3843745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▸ K-Means</a:t>
            </a:r>
            <a:endParaRPr sz="2400"/>
          </a:p>
        </p:txBody>
      </p:sp>
      <p:sp>
        <p:nvSpPr>
          <p:cNvPr id="128" name="Google Shape;128;p17"/>
          <p:cNvSpPr/>
          <p:nvPr/>
        </p:nvSpPr>
        <p:spPr>
          <a:xfrm>
            <a:off x="548640" y="4709160"/>
            <a:ext cx="914400" cy="156453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507492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🚨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600200" y="470916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828800" y="484632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Anomaly detection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828800" y="5303520"/>
            <a:ext cx="6400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Flag items that look unlike everything else.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86800" y="516916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▸ Isolation Forest</a:t>
            </a:r>
            <a:endParaRPr sz="2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PCA — Principal Component Analysis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48640" y="91440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Find new axes that capture the most variance</a:t>
            </a:r>
            <a:endParaRPr sz="2400"/>
          </a:p>
        </p:txBody>
      </p:sp>
      <p:sp>
        <p:nvSpPr>
          <p:cNvPr id="143" name="Google Shape;143;p18"/>
          <p:cNvSpPr/>
          <p:nvPr/>
        </p:nvSpPr>
        <p:spPr>
          <a:xfrm>
            <a:off x="548650" y="1606025"/>
            <a:ext cx="11064300" cy="1691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822960" y="1844356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idea</a:t>
            </a:r>
            <a:endParaRPr b="1" sz="2400"/>
          </a:p>
        </p:txBody>
      </p:sp>
      <p:sp>
        <p:nvSpPr>
          <p:cNvPr id="145" name="Google Shape;145;p18"/>
          <p:cNvSpPr txBox="1"/>
          <p:nvPr/>
        </p:nvSpPr>
        <p:spPr>
          <a:xfrm>
            <a:off x="822950" y="2446348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"Find new axes — PC1, PC2, ... — that capture the data's variance.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If most variance lives in a few axes, the rest are mostly noise. Drop them."</a:t>
            </a:r>
            <a:endParaRPr sz="1700"/>
          </a:p>
        </p:txBody>
      </p:sp>
      <p:sp>
        <p:nvSpPr>
          <p:cNvPr id="146" name="Google Shape;146;p18"/>
          <p:cNvSpPr txBox="1"/>
          <p:nvPr/>
        </p:nvSpPr>
        <p:spPr>
          <a:xfrm>
            <a:off x="548640" y="3566160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When to reach for it</a:t>
            </a:r>
            <a:endParaRPr sz="1500"/>
          </a:p>
        </p:txBody>
      </p:sp>
      <p:sp>
        <p:nvSpPr>
          <p:cNvPr id="147" name="Google Shape;147;p18"/>
          <p:cNvSpPr txBox="1"/>
          <p:nvPr/>
        </p:nvSpPr>
        <p:spPr>
          <a:xfrm>
            <a:off x="640080" y="416052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Visualisation</a:t>
            </a:r>
            <a:endParaRPr sz="1600"/>
          </a:p>
        </p:txBody>
      </p:sp>
      <p:sp>
        <p:nvSpPr>
          <p:cNvPr id="148" name="Google Shape;148;p18"/>
          <p:cNvSpPr txBox="1"/>
          <p:nvPr/>
        </p:nvSpPr>
        <p:spPr>
          <a:xfrm>
            <a:off x="3931920" y="4160520"/>
            <a:ext cx="768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Project 10D customer data into 2D for a chart</a:t>
            </a:r>
            <a:endParaRPr sz="1600"/>
          </a:p>
        </p:txBody>
      </p:sp>
      <p:sp>
        <p:nvSpPr>
          <p:cNvPr id="149" name="Google Shape;149;p18"/>
          <p:cNvSpPr txBox="1"/>
          <p:nvPr/>
        </p:nvSpPr>
        <p:spPr>
          <a:xfrm>
            <a:off x="640080" y="466344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Preprocessing</a:t>
            </a:r>
            <a:endParaRPr sz="1600"/>
          </a:p>
        </p:txBody>
      </p:sp>
      <p:sp>
        <p:nvSpPr>
          <p:cNvPr id="150" name="Google Shape;150;p18"/>
          <p:cNvSpPr txBox="1"/>
          <p:nvPr/>
        </p:nvSpPr>
        <p:spPr>
          <a:xfrm>
            <a:off x="3931920" y="4663440"/>
            <a:ext cx="768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Feed a 5-component representation into a downstream model</a:t>
            </a:r>
            <a:endParaRPr sz="1600"/>
          </a:p>
        </p:txBody>
      </p:sp>
      <p:sp>
        <p:nvSpPr>
          <p:cNvPr id="151" name="Google Shape;151;p18"/>
          <p:cNvSpPr txBox="1"/>
          <p:nvPr/>
        </p:nvSpPr>
        <p:spPr>
          <a:xfrm>
            <a:off x="640080" y="516636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Decorrelation</a:t>
            </a:r>
            <a:endParaRPr sz="1600"/>
          </a:p>
        </p:txBody>
      </p:sp>
      <p:sp>
        <p:nvSpPr>
          <p:cNvPr id="152" name="Google Shape;152;p18"/>
          <p:cNvSpPr txBox="1"/>
          <p:nvPr/>
        </p:nvSpPr>
        <p:spPr>
          <a:xfrm>
            <a:off x="3931920" y="5166360"/>
            <a:ext cx="768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PCs are orthogonal — useful before some algorithms</a:t>
            </a:r>
            <a:endParaRPr sz="1600"/>
          </a:p>
        </p:txBody>
      </p:sp>
      <p:sp>
        <p:nvSpPr>
          <p:cNvPr id="153" name="Google Shape;153;p18"/>
          <p:cNvSpPr/>
          <p:nvPr/>
        </p:nvSpPr>
        <p:spPr>
          <a:xfrm>
            <a:off x="548650" y="5852148"/>
            <a:ext cx="11064300" cy="6465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22960" y="6014029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⚠  ALWAYS standardise features before PCA — variance is scale-dependent.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PCA Loadings — Naming the Axes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48640" y="837527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each principal component actually represents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48640" y="1506339"/>
            <a:ext cx="11064300" cy="539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22960" y="1597778"/>
            <a:ext cx="27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400800" y="1597778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PC1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686800" y="1597778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PC2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48640" y="2009259"/>
            <a:ext cx="11064300" cy="431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22960" y="208241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support_tickets_quarter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00800" y="208241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+0.555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686800" y="208241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+0.009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48640" y="2375019"/>
            <a:ext cx="11064300" cy="4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22960" y="244817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400800" y="244817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+0.452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686800" y="244817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−0.405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48640" y="2740779"/>
            <a:ext cx="11064300" cy="431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22960" y="281393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avg_review_polarity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400800" y="281393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−0.432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686800" y="281393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+0.113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48640" y="3106539"/>
            <a:ext cx="11064300" cy="4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22960" y="317969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tenure_months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00800" y="317969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+0.352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686800" y="317969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−0.239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48640" y="3472298"/>
            <a:ext cx="11064300" cy="431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22960" y="354545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last_login_days_ago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400800" y="354545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+0.307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686800" y="354545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+0.468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48640" y="3838059"/>
            <a:ext cx="11064300" cy="4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22960" y="391121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returns_per_purchase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400800" y="391121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−0.233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686800" y="391121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−0.437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48640" y="4203819"/>
            <a:ext cx="11064300" cy="4317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22960" y="4276971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num_purchases_quarter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400800" y="427697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+0.126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686800" y="4276971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+0.591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48640" y="4920368"/>
            <a:ext cx="11064300" cy="1294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822960" y="5057528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Sarah's interpretation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22960" y="5469008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PC1 → 'frustration': high tickets, age, low reviews. PC2 → 'activity': high purchases, low returns.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K-Means — The Standard Clustering Algorithm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48640" y="91440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Partition data into K groups by minimising within-cluster variance</a:t>
            </a:r>
            <a:endParaRPr sz="1700"/>
          </a:p>
        </p:txBody>
      </p:sp>
      <p:sp>
        <p:nvSpPr>
          <p:cNvPr id="257" name="Google Shape;257;p23"/>
          <p:cNvSpPr/>
          <p:nvPr/>
        </p:nvSpPr>
        <p:spPr>
          <a:xfrm>
            <a:off x="548640" y="1476397"/>
            <a:ext cx="11064300" cy="323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822960" y="1613557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algorithm (Lloyd's algorithm)</a:t>
            </a:r>
            <a:endParaRPr b="1" sz="2400"/>
          </a:p>
        </p:txBody>
      </p:sp>
      <p:sp>
        <p:nvSpPr>
          <p:cNvPr id="259" name="Google Shape;259;p23"/>
          <p:cNvSpPr txBox="1"/>
          <p:nvPr/>
        </p:nvSpPr>
        <p:spPr>
          <a:xfrm>
            <a:off x="822960" y="2307672"/>
            <a:ext cx="1051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1.  Pick K starting centroids (randomly or with k-means++)</a:t>
            </a:r>
            <a:endParaRPr b="0" sz="190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2.  Assign each point to its nearest centroid</a:t>
            </a:r>
            <a:endParaRPr b="0" sz="190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3.  Move each centroid to the mean of its assigned points</a:t>
            </a:r>
            <a:endParaRPr b="0" sz="190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4.  Repeat from step 2 until centroids stop moving</a:t>
            </a:r>
            <a:endParaRPr sz="1600"/>
          </a:p>
        </p:txBody>
      </p:sp>
      <p:sp>
        <p:nvSpPr>
          <p:cNvPr id="260" name="Google Shape;260;p23"/>
          <p:cNvSpPr/>
          <p:nvPr/>
        </p:nvSpPr>
        <p:spPr>
          <a:xfrm>
            <a:off x="548640" y="4356757"/>
            <a:ext cx="11064300" cy="2050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822960" y="4493917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When K-Means works</a:t>
            </a:r>
            <a:endParaRPr sz="2400"/>
          </a:p>
        </p:txBody>
      </p:sp>
      <p:sp>
        <p:nvSpPr>
          <p:cNvPr id="262" name="Google Shape;262;p23"/>
          <p:cNvSpPr txBox="1"/>
          <p:nvPr/>
        </p:nvSpPr>
        <p:spPr>
          <a:xfrm>
            <a:off x="914400" y="4951117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✓  Compact, roughly spherical clusters</a:t>
            </a:r>
            <a:endParaRPr sz="1900"/>
          </a:p>
        </p:txBody>
      </p:sp>
      <p:sp>
        <p:nvSpPr>
          <p:cNvPr id="263" name="Google Shape;263;p23"/>
          <p:cNvSpPr txBox="1"/>
          <p:nvPr/>
        </p:nvSpPr>
        <p:spPr>
          <a:xfrm>
            <a:off x="914400" y="5243725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✓  Moderate dimensionality (run PCA first if you have &gt; 50 features)</a:t>
            </a:r>
            <a:endParaRPr sz="1900"/>
          </a:p>
        </p:txBody>
      </p:sp>
      <p:sp>
        <p:nvSpPr>
          <p:cNvPr id="264" name="Google Shape;264;p23"/>
          <p:cNvSpPr txBox="1"/>
          <p:nvPr/>
        </p:nvSpPr>
        <p:spPr>
          <a:xfrm>
            <a:off x="914400" y="5536333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✓  Reasonably balanced cluster sizes</a:t>
            </a:r>
            <a:endParaRPr sz="1900"/>
          </a:p>
        </p:txBody>
      </p:sp>
      <p:sp>
        <p:nvSpPr>
          <p:cNvPr id="265" name="Google Shape;265;p23"/>
          <p:cNvSpPr txBox="1"/>
          <p:nvPr/>
        </p:nvSpPr>
        <p:spPr>
          <a:xfrm>
            <a:off x="914400" y="5828941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✗  Non-globular shapes (moons, rings) — use DBSCAN instead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Choosing K — Three Approaches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48640" y="91440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Mathematics + judgement</a:t>
            </a:r>
            <a:endParaRPr sz="2400"/>
          </a:p>
        </p:txBody>
      </p:sp>
      <p:sp>
        <p:nvSpPr>
          <p:cNvPr id="275" name="Google Shape;275;p24"/>
          <p:cNvSpPr/>
          <p:nvPr/>
        </p:nvSpPr>
        <p:spPr>
          <a:xfrm>
            <a:off x="548640" y="178308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548640" y="205740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1417320" y="17830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645920" y="192024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Elbow method</a:t>
            </a:r>
            <a:endParaRPr sz="2000"/>
          </a:p>
        </p:txBody>
      </p:sp>
      <p:sp>
        <p:nvSpPr>
          <p:cNvPr id="279" name="Google Shape;279;p24"/>
          <p:cNvSpPr txBox="1"/>
          <p:nvPr/>
        </p:nvSpPr>
        <p:spPr>
          <a:xfrm>
            <a:off x="1645920" y="233172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Plot inertia vs K. Look for the 'bend' where adding more K stops helping much.</a:t>
            </a:r>
            <a:endParaRPr sz="2000"/>
          </a:p>
        </p:txBody>
      </p:sp>
      <p:sp>
        <p:nvSpPr>
          <p:cNvPr id="280" name="Google Shape;280;p24"/>
          <p:cNvSpPr txBox="1"/>
          <p:nvPr/>
        </p:nvSpPr>
        <p:spPr>
          <a:xfrm>
            <a:off x="1645920" y="269748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Run K=2..10. Plot. Find the kink.</a:t>
            </a:r>
            <a:endParaRPr sz="2000"/>
          </a:p>
        </p:txBody>
      </p:sp>
      <p:sp>
        <p:nvSpPr>
          <p:cNvPr id="281" name="Google Shape;281;p24"/>
          <p:cNvSpPr/>
          <p:nvPr/>
        </p:nvSpPr>
        <p:spPr>
          <a:xfrm>
            <a:off x="548640" y="320040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548640" y="347472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1417320" y="320040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1645920" y="333756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Silhouette score</a:t>
            </a:r>
            <a:endParaRPr sz="2000"/>
          </a:p>
        </p:txBody>
      </p:sp>
      <p:sp>
        <p:nvSpPr>
          <p:cNvPr id="285" name="Google Shape;285;p24"/>
          <p:cNvSpPr txBox="1"/>
          <p:nvPr/>
        </p:nvSpPr>
        <p:spPr>
          <a:xfrm>
            <a:off x="1645920" y="374904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Per-point measure of cluster fit, averaged. Higher = better.</a:t>
            </a:r>
            <a:endParaRPr sz="2000"/>
          </a:p>
        </p:txBody>
      </p:sp>
      <p:sp>
        <p:nvSpPr>
          <p:cNvPr id="286" name="Google Shape;286;p24"/>
          <p:cNvSpPr txBox="1"/>
          <p:nvPr/>
        </p:nvSpPr>
        <p:spPr>
          <a:xfrm>
            <a:off x="1645920" y="411480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▸ Peak score → that K is mathematically the best.</a:t>
            </a:r>
            <a:endParaRPr sz="2000"/>
          </a:p>
        </p:txBody>
      </p:sp>
      <p:sp>
        <p:nvSpPr>
          <p:cNvPr id="287" name="Google Shape;287;p24"/>
          <p:cNvSpPr/>
          <p:nvPr/>
        </p:nvSpPr>
        <p:spPr>
          <a:xfrm>
            <a:off x="548640" y="461772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548640" y="489204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1417320" y="461772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1645920" y="475488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Business judgement</a:t>
            </a:r>
            <a:endParaRPr sz="2000"/>
          </a:p>
        </p:txBody>
      </p:sp>
      <p:sp>
        <p:nvSpPr>
          <p:cNvPr id="291" name="Google Shape;291;p24"/>
          <p:cNvSpPr txBox="1"/>
          <p:nvPr/>
        </p:nvSpPr>
        <p:spPr>
          <a:xfrm>
            <a:off x="1645920" y="516636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Are 4 segments more actionable than 7? Marketing teams have limits.</a:t>
            </a:r>
            <a:endParaRPr sz="2000"/>
          </a:p>
        </p:txBody>
      </p:sp>
      <p:sp>
        <p:nvSpPr>
          <p:cNvPr id="292" name="Google Shape;292;p24"/>
          <p:cNvSpPr txBox="1"/>
          <p:nvPr/>
        </p:nvSpPr>
        <p:spPr>
          <a:xfrm>
            <a:off x="1645920" y="553212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▸ Don't ignore operational reality.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Cluster Profiling — From Numbers to Names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548640" y="91440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makes each cluster distinctive?</a:t>
            </a:r>
            <a:endParaRPr sz="2400"/>
          </a:p>
        </p:txBody>
      </p:sp>
      <p:sp>
        <p:nvSpPr>
          <p:cNvPr id="302" name="Google Shape;302;p25"/>
          <p:cNvSpPr/>
          <p:nvPr/>
        </p:nvSpPr>
        <p:spPr>
          <a:xfrm>
            <a:off x="548640" y="1583211"/>
            <a:ext cx="11064300" cy="539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82296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Cluster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228600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tenure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365760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spend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493776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returns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40080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last login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786384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polarity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9418320" y="1692938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Sarah's name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548640" y="2086131"/>
            <a:ext cx="11064300" cy="539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82296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Cluster 0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228600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55 mo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365760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£71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493776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0.09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40080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21 d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7863840" y="219585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+0.16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9418320" y="2195859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Loyal long-term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548640" y="2589051"/>
            <a:ext cx="11064300" cy="53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82296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Cluster 1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228600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36 mo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365760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£71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493776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0.13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40080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92 d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7863840" y="269877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+0.12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9418320" y="2698779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Dormant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548640" y="3091971"/>
            <a:ext cx="11064300" cy="539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82296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Cluster 2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228600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17 mo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365760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£69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93776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0.10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640080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21 d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7863840" y="320169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+0.13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9418320" y="3201699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New &amp; active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548640" y="3594891"/>
            <a:ext cx="11064300" cy="53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82296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Cluster 3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228600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36 mo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365760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£69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493776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0.31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40080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22 d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863840" y="3704619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+0.18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9418320" y="3704619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High returns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548640" y="4372131"/>
            <a:ext cx="11064300" cy="2050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822960" y="4509291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Sarah → Marcus translation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822960" y="5012211"/>
            <a:ext cx="10515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"Cluster 0 isn't a number. It's our LOYAL LONG-TERM segment — 35% of our base, low return rate, the people we keep happy.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Cluster 1 are the DORMANT — they haven't logged in for three months on average. That's the re-engagement target."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Anomaly Detection — Find Unusual Individuals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548640" y="91440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Different question from clustering — same data</a:t>
            </a:r>
            <a:endParaRPr sz="2400"/>
          </a:p>
        </p:txBody>
      </p:sp>
      <p:sp>
        <p:nvSpPr>
          <p:cNvPr id="370" name="Google Shape;370;p27"/>
          <p:cNvSpPr/>
          <p:nvPr/>
        </p:nvSpPr>
        <p:spPr>
          <a:xfrm>
            <a:off x="548650" y="1737351"/>
            <a:ext cx="5486400" cy="2767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777240" y="1920240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Clustering asks</a:t>
            </a:r>
            <a:endParaRPr sz="1900"/>
          </a:p>
        </p:txBody>
      </p:sp>
      <p:sp>
        <p:nvSpPr>
          <p:cNvPr id="372" name="Google Shape;372;p27"/>
          <p:cNvSpPr txBox="1"/>
          <p:nvPr/>
        </p:nvSpPr>
        <p:spPr>
          <a:xfrm>
            <a:off x="777240" y="2500033"/>
            <a:ext cx="5029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"What GROUPS does my data fall into?"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→ Output: K labels, one per point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→ Tool: K-Means, hierarchical, DBSCAN</a:t>
            </a:r>
            <a:endParaRPr sz="2000"/>
          </a:p>
        </p:txBody>
      </p:sp>
      <p:sp>
        <p:nvSpPr>
          <p:cNvPr id="373" name="Google Shape;373;p27"/>
          <p:cNvSpPr/>
          <p:nvPr/>
        </p:nvSpPr>
        <p:spPr>
          <a:xfrm>
            <a:off x="6172200" y="1737352"/>
            <a:ext cx="5486400" cy="2767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6400800" y="1920240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Anomaly detection asks</a:t>
            </a:r>
            <a:endParaRPr sz="2400"/>
          </a:p>
        </p:txBody>
      </p:sp>
      <p:sp>
        <p:nvSpPr>
          <p:cNvPr id="375" name="Google Shape;375;p27"/>
          <p:cNvSpPr txBox="1"/>
          <p:nvPr/>
        </p:nvSpPr>
        <p:spPr>
          <a:xfrm>
            <a:off x="6400800" y="2469284"/>
            <a:ext cx="5029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"Which INDIVIDUAL points are unusual?"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4F5F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Output: score per point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4F5F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Tool: Isolation Forest, One-Class SVM, autoencoders</a:t>
            </a:r>
            <a:endParaRPr sz="2000"/>
          </a:p>
        </p:txBody>
      </p:sp>
      <p:sp>
        <p:nvSpPr>
          <p:cNvPr id="376" name="Google Shape;376;p27"/>
          <p:cNvSpPr txBox="1"/>
          <p:nvPr/>
        </p:nvSpPr>
        <p:spPr>
          <a:xfrm>
            <a:off x="548640" y="4663440"/>
            <a:ext cx="110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Common use cases</a:t>
            </a:r>
            <a:endParaRPr sz="2400"/>
          </a:p>
        </p:txBody>
      </p:sp>
      <p:sp>
        <p:nvSpPr>
          <p:cNvPr id="377" name="Google Shape;377;p27"/>
          <p:cNvSpPr txBox="1"/>
          <p:nvPr/>
        </p:nvSpPr>
        <p:spPr>
          <a:xfrm>
            <a:off x="640080" y="5135207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🚨  Fraud detection (banking, e-commerce, insurance)</a:t>
            </a:r>
            <a:endParaRPr sz="2000"/>
          </a:p>
        </p:txBody>
      </p:sp>
      <p:sp>
        <p:nvSpPr>
          <p:cNvPr id="378" name="Google Shape;378;p27"/>
          <p:cNvSpPr txBox="1"/>
          <p:nvPr/>
        </p:nvSpPr>
        <p:spPr>
          <a:xfrm>
            <a:off x="640080" y="5473939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🔧  Manufacturing defects</a:t>
            </a:r>
            <a:endParaRPr sz="2000"/>
          </a:p>
        </p:txBody>
      </p:sp>
      <p:sp>
        <p:nvSpPr>
          <p:cNvPr id="379" name="Google Shape;379;p27"/>
          <p:cNvSpPr txBox="1"/>
          <p:nvPr/>
        </p:nvSpPr>
        <p:spPr>
          <a:xfrm>
            <a:off x="640080" y="5797296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📊  Data quality (corrupt rows, outlier values)</a:t>
            </a:r>
            <a:endParaRPr sz="2000"/>
          </a:p>
        </p:txBody>
      </p:sp>
      <p:sp>
        <p:nvSpPr>
          <p:cNvPr id="380" name="Google Shape;380;p27"/>
          <p:cNvSpPr txBox="1"/>
          <p:nvPr/>
        </p:nvSpPr>
        <p:spPr>
          <a:xfrm>
            <a:off x="640080" y="6136028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🌐  Security / intrusion detection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2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Isolation Forest — How It Works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Random trees isolate normal points; anomalies get isolated fast</a:t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548650" y="1302476"/>
            <a:ext cx="11064300" cy="1352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822960" y="1418814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intuition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822960" y="1825828"/>
            <a:ext cx="10515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"Build random splits in the data. NORMAL points sit in the dense middle — many splits before they're isolated.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ANOMALIES sit at the edges — they're isolated in just a few splits."</a:t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548650" y="2773073"/>
            <a:ext cx="11064300" cy="2846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777240" y="2917414"/>
            <a:ext cx="10698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IsolationForest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iso = IsolationForest(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n_estimators=100,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contamination=0.05,        # expected fraction of anomalies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random_state=42,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n_jobs=-1,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labels = iso.fit_predict(X_scaled)    # -1 = anomaly, +1 = normal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scores = iso.score_samples(X_scaled)  # raw scores (lower = more anomalous)</a:t>
            </a:r>
            <a:endParaRPr/>
          </a:p>
        </p:txBody>
      </p:sp>
      <p:sp>
        <p:nvSpPr>
          <p:cNvPr id="395" name="Google Shape;395;p28"/>
          <p:cNvSpPr/>
          <p:nvPr/>
        </p:nvSpPr>
        <p:spPr>
          <a:xfrm>
            <a:off x="548640" y="5745510"/>
            <a:ext cx="11064300" cy="7554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822960" y="5999224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contamination sets the threshold only. The continuous score is what matters operationally.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5" name="Google Shape;605;p3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6" name="Google Shape;606;p3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607" name="Google Shape;607;p3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Beyond the algorithms — the practical wisdom</a:t>
            </a:r>
            <a:endParaRPr/>
          </a:p>
        </p:txBody>
      </p:sp>
      <p:sp>
        <p:nvSpPr>
          <p:cNvPr id="608" name="Google Shape;608;p36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36"/>
          <p:cNvSpPr txBox="1"/>
          <p:nvPr/>
        </p:nvSpPr>
        <p:spPr>
          <a:xfrm>
            <a:off x="548640" y="20116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610" name="Google Shape;610;p36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36"/>
          <p:cNvSpPr txBox="1"/>
          <p:nvPr/>
        </p:nvSpPr>
        <p:spPr>
          <a:xfrm>
            <a:off x="1645920" y="19659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Unsupervised methods FIND structure — humans NAME it</a:t>
            </a:r>
            <a:endParaRPr/>
          </a:p>
        </p:txBody>
      </p:sp>
      <p:sp>
        <p:nvSpPr>
          <p:cNvPr id="612" name="Google Shape;612;p36"/>
          <p:cNvSpPr txBox="1"/>
          <p:nvPr/>
        </p:nvSpPr>
        <p:spPr>
          <a:xfrm>
            <a:off x="1645920" y="242316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K-Means gives you cluster 0, 1, 2, 3. Sarah translates to 'Loyal', 'Dormant', 'New', 'High return'. The names are the deliverable.</a:t>
            </a:r>
            <a:endParaRPr/>
          </a:p>
        </p:txBody>
      </p:sp>
      <p:sp>
        <p:nvSpPr>
          <p:cNvPr id="613" name="Google Shape;613;p36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548640" y="347472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615" name="Google Shape;615;p36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36"/>
          <p:cNvSpPr txBox="1"/>
          <p:nvPr/>
        </p:nvSpPr>
        <p:spPr>
          <a:xfrm>
            <a:off x="1645920" y="342900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ALWAYS scale before PCA / K-Means</a:t>
            </a:r>
            <a:endParaRPr/>
          </a:p>
        </p:txBody>
      </p:sp>
      <p:sp>
        <p:nvSpPr>
          <p:cNvPr id="617" name="Google Shape;617;p36"/>
          <p:cNvSpPr txBox="1"/>
          <p:nvPr/>
        </p:nvSpPr>
        <p:spPr>
          <a:xfrm>
            <a:off x="1645920" y="388620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Both algorithms are variance/distance-based. Unscaled features will be dominated by the largest-range column. StandardScaler is the right default.</a:t>
            </a:r>
            <a:endParaRPr/>
          </a:p>
        </p:txBody>
      </p:sp>
      <p:sp>
        <p:nvSpPr>
          <p:cNvPr id="618" name="Google Shape;618;p36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36"/>
          <p:cNvSpPr txBox="1"/>
          <p:nvPr/>
        </p:nvSpPr>
        <p:spPr>
          <a:xfrm>
            <a:off x="548640" y="493776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620" name="Google Shape;620;p36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36"/>
          <p:cNvSpPr txBox="1"/>
          <p:nvPr/>
        </p:nvSpPr>
        <p:spPr>
          <a:xfrm>
            <a:off x="1645920" y="48920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Anomaly detection surfaces, humans investigate</a:t>
            </a:r>
            <a:endParaRPr/>
          </a:p>
        </p:txBody>
      </p:sp>
      <p:sp>
        <p:nvSpPr>
          <p:cNvPr id="622" name="Google Shape;622;p36"/>
          <p:cNvSpPr txBox="1"/>
          <p:nvPr/>
        </p:nvSpPr>
        <p:spPr>
          <a:xfrm>
            <a:off x="1645920" y="5349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model can't tell you WHY a customer is anomalous. Look at the feature combinations and write the why yourself.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"/>
          <p:cNvSpPr/>
          <p:nvPr/>
        </p:nvSpPr>
        <p:spPr>
          <a:xfrm>
            <a:off x="0" y="6772201"/>
            <a:ext cx="12191700" cy="73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3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Assignment Preview</a:t>
            </a:r>
            <a:endParaRPr/>
          </a:p>
        </p:txBody>
      </p:sp>
      <p:sp>
        <p:nvSpPr>
          <p:cNvPr id="658" name="Google Shape;658;p3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E-commerce segmentation + credit-card anomalies</a:t>
            </a:r>
            <a:endParaRPr/>
          </a:p>
        </p:txBody>
      </p:sp>
      <p:sp>
        <p:nvSpPr>
          <p:cNvPr id="659" name="Google Shape;659;p38"/>
          <p:cNvSpPr/>
          <p:nvPr/>
        </p:nvSpPr>
        <p:spPr>
          <a:xfrm>
            <a:off x="548650" y="1302475"/>
            <a:ext cx="5486400" cy="523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38"/>
          <p:cNvSpPr txBox="1"/>
          <p:nvPr/>
        </p:nvSpPr>
        <p:spPr>
          <a:xfrm>
            <a:off x="777240" y="1439643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Part A — StyleHub Segments</a:t>
            </a:r>
            <a:endParaRPr/>
          </a:p>
        </p:txBody>
      </p:sp>
      <p:sp>
        <p:nvSpPr>
          <p:cNvPr id="661" name="Google Shape;661;p38"/>
          <p:cNvSpPr txBox="1"/>
          <p:nvPr/>
        </p:nvSpPr>
        <p:spPr>
          <a:xfrm>
            <a:off x="777240" y="1896843"/>
            <a:ext cx="502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C5697"/>
                </a:solidFill>
                <a:latin typeface="Consolas"/>
                <a:ea typeface="Consolas"/>
                <a:cs typeface="Consolas"/>
                <a:sym typeface="Consolas"/>
              </a:rPr>
              <a:t>notebooks/assignment.ipynb · Part A</a:t>
            </a:r>
            <a:endParaRPr/>
          </a:p>
        </p:txBody>
      </p:sp>
      <p:sp>
        <p:nvSpPr>
          <p:cNvPr id="662" name="Google Shape;662;p38"/>
          <p:cNvSpPr txBox="1"/>
          <p:nvPr/>
        </p:nvSpPr>
        <p:spPr>
          <a:xfrm>
            <a:off x="914400" y="2536923"/>
            <a:ext cx="493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8,000 e-commerce customers, 7 features</a:t>
            </a:r>
            <a:endParaRPr/>
          </a:p>
        </p:txBody>
      </p:sp>
      <p:sp>
        <p:nvSpPr>
          <p:cNvPr id="663" name="Google Shape;663;p38"/>
          <p:cNvSpPr txBox="1"/>
          <p:nvPr/>
        </p:nvSpPr>
        <p:spPr>
          <a:xfrm>
            <a:off x="914400" y="2994123"/>
            <a:ext cx="493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Exercise A1: preprocessor + 2D PCA</a:t>
            </a:r>
            <a:endParaRPr/>
          </a:p>
        </p:txBody>
      </p:sp>
      <p:sp>
        <p:nvSpPr>
          <p:cNvPr id="664" name="Google Shape;664;p38"/>
          <p:cNvSpPr txBox="1"/>
          <p:nvPr/>
        </p:nvSpPr>
        <p:spPr>
          <a:xfrm>
            <a:off x="914400" y="3451323"/>
            <a:ext cx="493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Exercise A2: choose K with elbow + silhouette</a:t>
            </a:r>
            <a:endParaRPr/>
          </a:p>
        </p:txBody>
      </p:sp>
      <p:sp>
        <p:nvSpPr>
          <p:cNvPr id="665" name="Google Shape;665;p38"/>
          <p:cNvSpPr txBox="1"/>
          <p:nvPr/>
        </p:nvSpPr>
        <p:spPr>
          <a:xfrm>
            <a:off x="914400" y="3908523"/>
            <a:ext cx="493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Exercise A3: profile + name segments</a:t>
            </a:r>
            <a:endParaRPr/>
          </a:p>
        </p:txBody>
      </p:sp>
      <p:sp>
        <p:nvSpPr>
          <p:cNvPr id="666" name="Google Shape;666;p38"/>
          <p:cNvSpPr txBox="1"/>
          <p:nvPr/>
        </p:nvSpPr>
        <p:spPr>
          <a:xfrm>
            <a:off x="914400" y="4365723"/>
            <a:ext cx="493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Deliverable: 4-6 named segments</a:t>
            </a:r>
            <a:endParaRPr/>
          </a:p>
        </p:txBody>
      </p:sp>
      <p:sp>
        <p:nvSpPr>
          <p:cNvPr id="667" name="Google Shape;667;p38"/>
          <p:cNvSpPr/>
          <p:nvPr/>
        </p:nvSpPr>
        <p:spPr>
          <a:xfrm>
            <a:off x="6263650" y="1302475"/>
            <a:ext cx="5303400" cy="523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38"/>
          <p:cNvSpPr txBox="1"/>
          <p:nvPr/>
        </p:nvSpPr>
        <p:spPr>
          <a:xfrm>
            <a:off x="6537960" y="1439643"/>
            <a:ext cx="493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 B — Card Fraud Anomalies</a:t>
            </a:r>
            <a:endParaRPr/>
          </a:p>
        </p:txBody>
      </p:sp>
      <p:sp>
        <p:nvSpPr>
          <p:cNvPr id="669" name="Google Shape;669;p38"/>
          <p:cNvSpPr txBox="1"/>
          <p:nvPr/>
        </p:nvSpPr>
        <p:spPr>
          <a:xfrm>
            <a:off x="6675120" y="2536923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5,000 credit-card transactions</a:t>
            </a:r>
            <a:endParaRPr/>
          </a:p>
        </p:txBody>
      </p:sp>
      <p:sp>
        <p:nvSpPr>
          <p:cNvPr id="670" name="Google Shape;670;p38"/>
          <p:cNvSpPr txBox="1"/>
          <p:nvPr/>
        </p:nvSpPr>
        <p:spPr>
          <a:xfrm>
            <a:off x="6675120" y="2994123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Exercise B1: fit Isolation Forest</a:t>
            </a:r>
            <a:endParaRPr/>
          </a:p>
        </p:txBody>
      </p:sp>
      <p:sp>
        <p:nvSpPr>
          <p:cNvPr id="671" name="Google Shape;671;p38"/>
          <p:cNvSpPr txBox="1"/>
          <p:nvPr/>
        </p:nvSpPr>
        <p:spPr>
          <a:xfrm>
            <a:off x="6675120" y="3451323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Exercise B2: surface the top 50 most unusual</a:t>
            </a:r>
            <a:endParaRPr/>
          </a:p>
        </p:txBody>
      </p:sp>
      <p:sp>
        <p:nvSpPr>
          <p:cNvPr id="672" name="Google Shape;672;p38"/>
          <p:cNvSpPr txBox="1"/>
          <p:nvPr/>
        </p:nvSpPr>
        <p:spPr>
          <a:xfrm>
            <a:off x="6675120" y="3908523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3" name="Google Shape;673;p38"/>
          <p:cNvSpPr txBox="1"/>
          <p:nvPr/>
        </p:nvSpPr>
        <p:spPr>
          <a:xfrm>
            <a:off x="6675120" y="4365723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Deliverable: top-50 watch list + recommendation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0" y="0"/>
            <a:ext cx="12191700" cy="678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731520" y="73152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Bridge to Lesson 6</a:t>
            </a:r>
            <a:endParaRPr/>
          </a:p>
        </p:txBody>
      </p:sp>
      <p:sp>
        <p:nvSpPr>
          <p:cNvPr id="706" name="Google Shape;706;p40"/>
          <p:cNvSpPr/>
          <p:nvPr/>
        </p:nvSpPr>
        <p:spPr>
          <a:xfrm>
            <a:off x="914400" y="1645920"/>
            <a:ext cx="10332720" cy="25895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40"/>
          <p:cNvSpPr txBox="1"/>
          <p:nvPr/>
        </p:nvSpPr>
        <p:spPr>
          <a:xfrm>
            <a:off x="1188720" y="1828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after the Friday presentation:</a:t>
            </a:r>
            <a:endParaRPr/>
          </a:p>
        </p:txBody>
      </p:sp>
      <p:sp>
        <p:nvSpPr>
          <p:cNvPr id="708" name="Google Shape;708;p40"/>
          <p:cNvSpPr txBox="1"/>
          <p:nvPr/>
        </p:nvSpPr>
        <p:spPr>
          <a:xfrm>
            <a:off x="1188720" y="2286000"/>
            <a:ext cx="9784080" cy="172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"Great. Segments shipped. Watch list assigned.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Now — our sales are SEASONAL. We need to know quarterly revenue 90 days ahead so ops can plan inventory.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 you forecast?"</a:t>
            </a:r>
            <a:endParaRPr/>
          </a:p>
        </p:txBody>
      </p:sp>
      <p:sp>
        <p:nvSpPr>
          <p:cNvPr id="709" name="Google Shape;709;p40"/>
          <p:cNvSpPr txBox="1"/>
          <p:nvPr/>
        </p:nvSpPr>
        <p:spPr>
          <a:xfrm>
            <a:off x="914400" y="429768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Lesson 6 — Time Series Forecasting</a:t>
            </a:r>
            <a:endParaRPr/>
          </a:p>
        </p:txBody>
      </p:sp>
      <p:sp>
        <p:nvSpPr>
          <p:cNvPr id="710" name="Google Shape;710;p40"/>
          <p:cNvSpPr txBox="1"/>
          <p:nvPr/>
        </p:nvSpPr>
        <p:spPr>
          <a:xfrm>
            <a:off x="914400" y="480060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Classical decomposition · ETS · ARIMA · ML-based forecasting (LightGBM with lag features)</a:t>
            </a:r>
            <a:endParaRPr/>
          </a:p>
        </p:txBody>
      </p:sp>
      <p:sp>
        <p:nvSpPr>
          <p:cNvPr id="711" name="Google Shape;711;p40"/>
          <p:cNvSpPr txBox="1"/>
          <p:nvPr/>
        </p:nvSpPr>
        <p:spPr>
          <a:xfrm>
            <a:off x="914400" y="534924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Different toolkit. Same Sarah-week structure.</a:t>
            </a:r>
            <a:endParaRPr/>
          </a:p>
        </p:txBody>
      </p:sp>
      <p:sp>
        <p:nvSpPr>
          <p:cNvPr id="712" name="Google Shape;712;p40"/>
          <p:cNvSpPr txBox="1"/>
          <p:nvPr/>
        </p:nvSpPr>
        <p:spPr>
          <a:xfrm>
            <a:off x="914400" y="5943600"/>
            <a:ext cx="1033272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Before L06 — finish the L05 assignment in notebooks/assignment.ipynb.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0" y="0"/>
            <a:ext cx="12191700" cy="678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5" name="Google Shape;745;p42"/>
          <p:cNvSpPr txBox="1"/>
          <p:nvPr/>
        </p:nvSpPr>
        <p:spPr>
          <a:xfrm>
            <a:off x="731520" y="2011680"/>
            <a:ext cx="1069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See You in L06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46" name="Google Shape;746;p42"/>
          <p:cNvSpPr txBox="1"/>
          <p:nvPr/>
        </p:nvSpPr>
        <p:spPr>
          <a:xfrm>
            <a:off x="731520" y="3291840"/>
            <a:ext cx="106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Time Series Forecasting — ETS · ARIMA · ML-based forecasting</a:t>
            </a:r>
            <a:endParaRPr sz="2400"/>
          </a:p>
        </p:txBody>
      </p:sp>
      <p:sp>
        <p:nvSpPr>
          <p:cNvPr id="747" name="Google Shape;747;p42"/>
          <p:cNvSpPr txBox="1"/>
          <p:nvPr/>
        </p:nvSpPr>
        <p:spPr>
          <a:xfrm>
            <a:off x="731520" y="4114800"/>
            <a:ext cx="106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Before then: finish the L05 assignment (StyleHub + credit-card)</a:t>
            </a:r>
            <a:endParaRPr sz="2400"/>
          </a:p>
        </p:txBody>
      </p:sp>
      <p:sp>
        <p:nvSpPr>
          <p:cNvPr id="748" name="Google Shape;748;p42"/>
          <p:cNvSpPr txBox="1"/>
          <p:nvPr/>
        </p:nvSpPr>
        <p:spPr>
          <a:xfrm>
            <a:off x="731520" y="4937760"/>
            <a:ext cx="106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Or dig into Hierarchical / DBSCAN / UMAP in optional_extensions.ipynb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